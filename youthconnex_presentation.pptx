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4800" b="1">
                <a:solidFill>
                  <a:srgbClr val="FFFFFF"/>
                </a:solidFill>
                <a:latin typeface="Arial"/>
              </a:defRPr>
            </a:pPr>
            <a:r>
              <a:t>YouthConnex GIS Platform</a:t>
            </a:r>
          </a:p>
          <a:p>
            <a:pPr>
              <a:spcAft>
                <a:spcPts val="4000"/>
              </a:spcAft>
              <a:defRPr sz="1800">
                <a:solidFill>
                  <a:srgbClr val="2563EB"/>
                </a:solidFill>
                <a:latin typeface="Arial"/>
              </a:defRPr>
            </a:pPr>
            <a:r>
              <a:t>Connecting Young Minds &amp; Building Vibrant Communities Through Interactive GIS Economic Mapping</a:t>
            </a:r>
          </a:p>
          <a:p>
            <a:pPr>
              <a:defRPr sz="1200">
                <a:solidFill>
                  <a:srgbClr val="A1A1AA"/>
                </a:solidFill>
                <a:latin typeface="Arial"/>
              </a:defRPr>
            </a:pPr>
            <a:r>
              <a:t>Presented by Team YouthConnex | Class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YOUTHCONNEX GIS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Core Concept &amp; Problem Definition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8181B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spcAft>
                <a:spcPts val="1400"/>
              </a:spcAft>
              <a:defRPr sz="1800" b="1">
                <a:solidFill>
                  <a:srgbClr val="E11D48"/>
                </a:solidFill>
                <a:latin typeface="Arial"/>
              </a:defRPr>
            </a:pPr>
            <a:r>
              <a:t>THE PROBLEM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High Youth Unemployment: Traditional job portals miss decentralized or informal local labor demands.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Invisible Local Opportunities: Small workshops, agricultural co-ops, and local projects lack digital outreach.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Geographic Disconnect: Job seekers struggle to identify vacancies within walkable or accessible distances.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Fragmented Directories: Information is scattered across paper boards, local councils, and WhatsApp groups.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8181B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spcAft>
                <a:spcPts val="1400"/>
              </a:spcAft>
              <a:defRPr sz="1800" b="1">
                <a:solidFill>
                  <a:srgbClr val="16A34A"/>
                </a:solidFill>
                <a:latin typeface="Arial"/>
              </a:defRPr>
            </a:pPr>
            <a:r>
              <a:t>THE SOLUTION (YOUTHCONNEX)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Interactive GIS Map: Visualizes economic activities dynamically, grouped by sector &amp; location.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Inclusive Sector Mapping: Brings agricultural co-ops, construction trades, and micro-services into one portal.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Distance-Based Search: Features smart radius searches and routing for job-seekers to target local commutes.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Centralized Validation: Empowers local managers and state agencies to publish validated opportunities.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YOUTHCONNEX GIS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Target User Ecosystem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2468880" cy="4114800"/>
          </a:xfrm>
          <a:prstGeom prst="roundRect">
            <a:avLst/>
          </a:prstGeom>
          <a:solidFill>
            <a:srgbClr val="18181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74320" rIns="182880"/>
          <a:lstStyle/>
          <a:p>
            <a:pPr algn="ctr">
              <a:spcAft>
                <a:spcPts val="1600"/>
              </a:spcAft>
              <a:defRPr sz="1800" b="1">
                <a:solidFill>
                  <a:srgbClr val="2563EB"/>
                </a:solidFill>
                <a:latin typeface="Arial"/>
              </a:defRPr>
            </a:pPr>
            <a:r>
              <a:t>01</a:t>
            </a:r>
            <a:br/>
            <a:r>
              <a:t>Youth Job-Seekers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Discover local work within walking/riding radius. Filter by sectors (agriculture, construction, services) and directly apply or connect via WhatsApp.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737360"/>
            <a:ext cx="2468880" cy="4114800"/>
          </a:xfrm>
          <a:prstGeom prst="roundRect">
            <a:avLst/>
          </a:prstGeom>
          <a:solidFill>
            <a:srgbClr val="18181B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74320" rIns="182880"/>
          <a:lstStyle/>
          <a:p>
            <a:pPr algn="ctr">
              <a:spcAft>
                <a:spcPts val="1600"/>
              </a:spcAft>
              <a:defRPr sz="1800" b="1">
                <a:solidFill>
                  <a:srgbClr val="16A34A"/>
                </a:solidFill>
                <a:latin typeface="Arial"/>
              </a:defRPr>
            </a:pPr>
            <a:r>
              <a:t>02</a:t>
            </a:r>
            <a:br/>
            <a:r>
              <a:t>Cooperative Managers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Publish cooperative jobs, harvest help, processing roles. Showcase cooperative presence and location on the GIS Map.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737360"/>
            <a:ext cx="2468880" cy="4114800"/>
          </a:xfrm>
          <a:prstGeom prst="roundRect">
            <a:avLst/>
          </a:prstGeom>
          <a:solidFill>
            <a:srgbClr val="18181B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74320" rIns="182880"/>
          <a:lstStyle/>
          <a:p>
            <a:pPr algn="ctr">
              <a:spcAft>
                <a:spcPts val="1600"/>
              </a:spcAft>
              <a:defRPr sz="1800" b="1">
                <a:solidFill>
                  <a:srgbClr val="D97706"/>
                </a:solidFill>
                <a:latin typeface="Arial"/>
              </a:defRPr>
            </a:pPr>
            <a:r>
              <a:t>03</a:t>
            </a:r>
            <a:br/>
            <a:r>
              <a:t>Construction Contractors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Post building site vacancies, specify skill level needed (e.g. Mason, Apprentice), manage candidate pipelines for active locations.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1737360"/>
            <a:ext cx="2468880" cy="4114800"/>
          </a:xfrm>
          <a:prstGeom prst="roundRect">
            <a:avLst/>
          </a:prstGeom>
          <a:solidFill>
            <a:srgbClr val="18181B"/>
          </a:solidFill>
          <a:ln w="1905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74320" rIns="182880"/>
          <a:lstStyle/>
          <a:p>
            <a:pPr algn="ctr">
              <a:spcAft>
                <a:spcPts val="1600"/>
              </a:spcAft>
              <a:defRPr sz="1800" b="1">
                <a:solidFill>
                  <a:srgbClr val="9333EA"/>
                </a:solidFill>
                <a:latin typeface="Arial"/>
              </a:defRPr>
            </a:pPr>
            <a:r>
              <a:t>04</a:t>
            </a:r>
            <a:br/>
            <a:r>
              <a:t>Government Officers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Administer public labor-intensive projects (HIMO). Implement and validate regional quotas, residency checks, and track employment stats.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YOUTHCONNEX GIS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Interactive GIS Mapping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2563EB"/>
                </a:solidFill>
                <a:latin typeface="Arial"/>
              </a:defRPr>
            </a:pPr>
            <a:r>
              <a:t>Mapbox GL JS Integration</a:t>
            </a:r>
          </a:p>
          <a:p>
            <a:pPr>
              <a:spcAft>
                <a:spcPts val="12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Visual Marker System: Custom geo-locations map each cooperative, site, or shop directly on the map.</a:t>
            </a:r>
          </a:p>
          <a:p>
            <a:pPr>
              <a:spcAft>
                <a:spcPts val="12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Popup Modals on Click: Selecting any marker pulls real-time Firestore details: Title, Compensation, Daily Rate, vacancies, and quick links.</a:t>
            </a:r>
          </a:p>
          <a:p>
            <a:pPr>
              <a:spcAft>
                <a:spcPts val="12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Dynamic Filtering: Instant client-side filters update map view by category, radius (e.g. 5km, 10km, 25km), and location coordinates.</a:t>
            </a:r>
          </a:p>
          <a:p>
            <a:pPr>
              <a:spcAft>
                <a:spcPts val="12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Theme Adaptation: Map adjusts styling parameters dynamically for Light and Dark modes to reduce eye strain.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731520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 rIns="182880"/>
          <a:lstStyle/>
          <a:p>
            <a:pPr algn="ctr">
              <a:defRPr sz="1300" b="1">
                <a:solidFill>
                  <a:srgbClr val="16A34A"/>
                </a:solidFill>
                <a:latin typeface="Arial"/>
              </a:defRPr>
            </a:pPr>
            <a:r>
              <a:t>Agriculture &amp; Cooperatives</a:t>
            </a:r>
          </a:p>
          <a:p>
            <a:pPr>
              <a:defRPr sz="1100">
                <a:solidFill>
                  <a:srgbClr val="A1A1AA"/>
                </a:solidFill>
                <a:latin typeface="Arial"/>
              </a:defRPr>
            </a:pPr>
            <a:r>
              <a:t>🌱 Faint Green Background | Focuses on agro-business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514600"/>
            <a:ext cx="5120640" cy="731520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 rIns="182880"/>
          <a:lstStyle/>
          <a:p>
            <a:pPr algn="ctr">
              <a:defRPr sz="1300" b="1">
                <a:solidFill>
                  <a:srgbClr val="D97706"/>
                </a:solidFill>
                <a:latin typeface="Arial"/>
              </a:defRPr>
            </a:pPr>
            <a:r>
              <a:t>Construction Site Openings</a:t>
            </a:r>
          </a:p>
          <a:p>
            <a:pPr>
              <a:defRPr sz="1100">
                <a:solidFill>
                  <a:srgbClr val="A1A1AA"/>
                </a:solidFill>
                <a:latin typeface="Arial"/>
              </a:defRPr>
            </a:pPr>
            <a:r>
              <a:t>🏗️ Faint Amber Background | Trade work &amp; masonry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383280"/>
            <a:ext cx="5120640" cy="731520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 rIns="182880"/>
          <a:lstStyle/>
          <a:p>
            <a:pPr algn="ctr">
              <a:defRPr sz="1300" b="1">
                <a:solidFill>
                  <a:srgbClr val="9333EA"/>
                </a:solidFill>
                <a:latin typeface="Arial"/>
              </a:defRPr>
            </a:pPr>
            <a:r>
              <a:t>Local &amp; Informal Services</a:t>
            </a:r>
          </a:p>
          <a:p>
            <a:pPr>
              <a:defRPr sz="1100">
                <a:solidFill>
                  <a:srgbClr val="A1A1AA"/>
                </a:solidFill>
                <a:latin typeface="Arial"/>
              </a:defRPr>
            </a:pPr>
            <a:r>
              <a:t>🛒 Faint Purple Background | Micro-shops (Tailoring, repairs)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251960"/>
            <a:ext cx="5120640" cy="731520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 rIns="182880"/>
          <a:lstStyle/>
          <a:p>
            <a:pPr algn="ctr">
              <a:defRPr sz="1300" b="1">
                <a:solidFill>
                  <a:srgbClr val="2563EB"/>
                </a:solidFill>
                <a:latin typeface="Arial"/>
              </a:defRPr>
            </a:pPr>
            <a:r>
              <a:t>State Infrastructure (HIMO)</a:t>
            </a:r>
          </a:p>
          <a:p>
            <a:pPr>
              <a:defRPr sz="1100">
                <a:solidFill>
                  <a:srgbClr val="A1A1AA"/>
                </a:solidFill>
                <a:latin typeface="Arial"/>
              </a:defRPr>
            </a:pPr>
            <a:r>
              <a:t>🏛️ Faint Blue Background | State public works vacancies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5120640"/>
            <a:ext cx="5120640" cy="731520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 rIns="182880"/>
          <a:lstStyle/>
          <a:p>
            <a:pPr algn="ctr">
              <a:defRPr sz="1300" b="1">
                <a:solidFill>
                  <a:srgbClr val="E11D48"/>
                </a:solidFill>
                <a:latin typeface="Arial"/>
              </a:defRPr>
            </a:pPr>
            <a:r>
              <a:t>Vocational Training</a:t>
            </a:r>
          </a:p>
          <a:p>
            <a:pPr>
              <a:defRPr sz="1100">
                <a:solidFill>
                  <a:srgbClr val="A1A1AA"/>
                </a:solidFill>
                <a:latin typeface="Arial"/>
              </a:defRPr>
            </a:pPr>
            <a:r>
              <a:t>📚 Faint Rose Background | Certified TVET workshops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AGRICULTURE SECTOR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Sector Focus: Agriculture &amp; Cooperatives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8181B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1400"/>
              </a:spcAft>
              <a:defRPr sz="1800" b="1">
                <a:solidFill>
                  <a:srgbClr val="16A34A"/>
                </a:solidFill>
                <a:latin typeface="Arial"/>
              </a:defRPr>
            </a:pPr>
            <a:r>
              <a:t>Cooperative Job Mapping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Farming collectives, grain processing, and cocoa cooperatives are registered with geographic boundaries.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Allows posting seasonal labor demands (e.g. Harvest assistants, sorting workers, packaging).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Tracks cooperative size, active crop type, and manager direct contact info.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8181B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14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Socio-Economic Impact</a:t>
            </a:r>
          </a:p>
          <a:p>
            <a:pPr>
              <a:spcAft>
                <a:spcPts val="10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• Fosters rural youth retention by exposing local agro-business positions near their communes.</a:t>
            </a:r>
          </a:p>
          <a:p>
            <a:pPr>
              <a:spcAft>
                <a:spcPts val="10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• Direct connection eliminates intermediaries, securing better compensation for laborers.</a:t>
            </a:r>
          </a:p>
          <a:p>
            <a:pPr>
              <a:spcAft>
                <a:spcPts val="10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• Facilitates local trade collaboration by mapping cooperative processing points for nearby markets.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PUBLIC WORKS &amp; CONSTRUCTION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Sector Focus: Construction &amp; State Projects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8181B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1400"/>
              </a:spcAft>
              <a:defRPr sz="1800" b="1">
                <a:solidFill>
                  <a:srgbClr val="D97706"/>
                </a:solidFill>
                <a:latin typeface="Arial"/>
              </a:defRPr>
            </a:pPr>
            <a:r>
              <a:t>Construction Trades Locator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Maps building zones, road rehabilitation projects, and housing developments.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Lists vacancy requirements: Mason, Electrician, Plumber, Painter, and Trade Apprentices.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Helps contractors secure vetted local labor rapidly, reducing transport logistics.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8181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1400"/>
              </a:spcAft>
              <a:defRPr sz="1800" b="1">
                <a:solidFill>
                  <a:srgbClr val="2563EB"/>
                </a:solidFill>
                <a:latin typeface="Arial"/>
              </a:defRPr>
            </a:pPr>
            <a:r>
              <a:t>State HIMO Quota &amp; Residency Checks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HIMO (Haute Intensité de Main d'Oeuvre) state projects mandate recruitment from specific local communes.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YouthConnex implements smart residency checks based on the candidate's home commune.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Validates qualifications and location criteria before allowing submissions, ensuring policy compliance.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INFORMAL 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Sector Focus: Informal Sector &amp; Micro-Services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8181B"/>
          </a:solidFill>
          <a:ln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1400"/>
              </a:spcAft>
              <a:defRPr sz="1800" b="1">
                <a:solidFill>
                  <a:srgbClr val="9333EA"/>
                </a:solidFill>
                <a:latin typeface="Arial"/>
              </a:defRPr>
            </a:pPr>
            <a:r>
              <a:t>Mapping Micro-Businesses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Unlocks visibility for micro-shops, local tailors, repair workshops, and service providers.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Profiles display active services, trade categories, location details, and direct contact numbers.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Empowers local youth to seek apprenticeships to learn practical, market-demanded trades.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8181B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14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Direct WhatsApp Connectivity</a:t>
            </a:r>
          </a:p>
          <a:p>
            <a:pPr>
              <a:spcAft>
                <a:spcPts val="10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• Micro-businesses often do not use formal recruitment systems or CV submissions.</a:t>
            </a:r>
          </a:p>
          <a:p>
            <a:pPr>
              <a:spcAft>
                <a:spcPts val="10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• YouthConnex implements direct WhatsApp click-to-chat links for service sector postings.</a:t>
            </a:r>
          </a:p>
          <a:p>
            <a:pPr>
              <a:spcAft>
                <a:spcPts val="1000"/>
              </a:spcAft>
              <a:defRPr sz="1300">
                <a:solidFill>
                  <a:srgbClr val="A1A1AA"/>
                </a:solidFill>
                <a:latin typeface="Arial"/>
              </a:defRPr>
            </a:pPr>
            <a:r>
              <a:t>• Allows job seekers to instantly pitch their services, ask questions, or schedule interviews via chat.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Platform Architecture &amp; Tech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291840" cy="4114800"/>
          </a:xfrm>
          <a:prstGeom prst="roundRect">
            <a:avLst/>
          </a:prstGeom>
          <a:solidFill>
            <a:srgbClr val="18181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74320" rIns="228600"/>
          <a:lstStyle/>
          <a:p>
            <a:pPr algn="ctr">
              <a:spcAft>
                <a:spcPts val="400"/>
              </a:spcAft>
              <a:defRPr sz="1600" b="1">
                <a:solidFill>
                  <a:srgbClr val="2563EB"/>
                </a:solidFill>
                <a:latin typeface="Arial"/>
              </a:defRPr>
            </a:pPr>
            <a:r>
              <a:t>Frontend Interface</a:t>
            </a:r>
          </a:p>
          <a:p>
            <a:pPr>
              <a:spcAft>
                <a:spcPts val="2000"/>
              </a:spcAft>
              <a:defRPr sz="1100" i="1">
                <a:solidFill>
                  <a:srgbClr val="A1A1AA"/>
                </a:solidFill>
                <a:latin typeface="Arial"/>
              </a:defRPr>
            </a:pPr>
            <a:r>
              <a:t>React.js | TailwindCSS | Mapbox GL JS</a:t>
            </a:r>
          </a:p>
          <a:p>
            <a:pPr>
              <a:defRPr sz="1200">
                <a:solidFill>
                  <a:srgbClr val="FFFFFF"/>
                </a:solidFill>
                <a:latin typeface="Arial"/>
              </a:defRPr>
            </a:pPr>
            <a:r>
              <a:t>Single Page Application rendering the dynamic dashboard, interactive GIS maps, forms, and custom CSS theme engine (real-time Dark/Light switching).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737360"/>
            <a:ext cx="3291840" cy="4114800"/>
          </a:xfrm>
          <a:prstGeom prst="roundRect">
            <a:avLst/>
          </a:prstGeom>
          <a:solidFill>
            <a:srgbClr val="18181B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74320" rIns="228600"/>
          <a:lstStyle/>
          <a:p>
            <a:pPr algn="ctr">
              <a:spcAft>
                <a:spcPts val="400"/>
              </a:spcAft>
              <a:defRPr sz="1600" b="1">
                <a:solidFill>
                  <a:srgbClr val="16A34A"/>
                </a:solidFill>
                <a:latin typeface="Arial"/>
              </a:defRPr>
            </a:pPr>
            <a:r>
              <a:t>Service &amp; DB Layer</a:t>
            </a:r>
          </a:p>
          <a:p>
            <a:pPr>
              <a:spcAft>
                <a:spcPts val="2000"/>
              </a:spcAft>
              <a:defRPr sz="1100" i="1">
                <a:solidFill>
                  <a:srgbClr val="A1A1AA"/>
                </a:solidFill>
                <a:latin typeface="Arial"/>
              </a:defRPr>
            </a:pPr>
            <a:r>
              <a:t>Firebase Auth &amp; Firestore Database</a:t>
            </a:r>
          </a:p>
          <a:p>
            <a:pPr>
              <a:defRPr sz="1200">
                <a:solidFill>
                  <a:srgbClr val="FFFFFF"/>
                </a:solidFill>
                <a:latin typeface="Arial"/>
              </a:defRPr>
            </a:pPr>
            <a:r>
              <a:t>Handles secure user authentication, role separation (Youth, Co-op, Contractor), and reactive real-time database updates for opportunities, stats, and coordinates.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737360"/>
            <a:ext cx="3291840" cy="4114800"/>
          </a:xfrm>
          <a:prstGeom prst="roundRect">
            <a:avLst/>
          </a:prstGeom>
          <a:solidFill>
            <a:srgbClr val="18181B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74320" rIns="228600"/>
          <a:lstStyle/>
          <a:p>
            <a:pPr algn="ctr">
              <a:spcAft>
                <a:spcPts val="400"/>
              </a:spcAft>
              <a:defRPr sz="1600" b="1">
                <a:solidFill>
                  <a:srgbClr val="D97706"/>
                </a:solidFill>
                <a:latin typeface="Arial"/>
              </a:defRPr>
            </a:pPr>
            <a:r>
              <a:t>GIS &amp; Maps Engine</a:t>
            </a:r>
          </a:p>
          <a:p>
            <a:pPr>
              <a:spcAft>
                <a:spcPts val="2000"/>
              </a:spcAft>
              <a:defRPr sz="1100" i="1">
                <a:solidFill>
                  <a:srgbClr val="A1A1AA"/>
                </a:solidFill>
                <a:latin typeface="Arial"/>
              </a:defRPr>
            </a:pPr>
            <a:r>
              <a:t>Mapbox APIs &amp; Spatial Queries</a:t>
            </a:r>
          </a:p>
          <a:p>
            <a:pPr>
              <a:defRPr sz="1200">
                <a:solidFill>
                  <a:srgbClr val="FFFFFF"/>
                </a:solidFill>
                <a:latin typeface="Arial"/>
              </a:defRPr>
            </a:pPr>
            <a:r>
              <a:t>Geocodes physical addresses, calculates proximity circles, visualizes search bounds, and renders layer heatmaps (supply/demand densities).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DATA VISUALIZATION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Platform Insights &amp;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2563EB"/>
                </a:solidFill>
                <a:latin typeface="Arial"/>
              </a:defRPr>
            </a:pPr>
            <a:r>
              <a:t>Aggregated GIS Insights</a:t>
            </a:r>
          </a:p>
          <a:p>
            <a:pPr>
              <a:spcAft>
                <a:spcPts val="12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Opportunity Heatmaps: Aggregates coordinates to visualize high-density hiring centers.</a:t>
            </a:r>
          </a:p>
          <a:p>
            <a:pPr>
              <a:spcAft>
                <a:spcPts val="12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Supply vs. Demand Analysis: Compares geographic distribution of job seekers against posted vacancies.</a:t>
            </a:r>
          </a:p>
          <a:p>
            <a:pPr>
              <a:spcAft>
                <a:spcPts val="12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Sector Distributions: Interactive breakdowns (e.g. 40% Agriculture, 35% Construction, 25% Services).</a:t>
            </a:r>
          </a:p>
          <a:p>
            <a:pPr>
              <a:spcAft>
                <a:spcPts val="1200"/>
              </a:spcAft>
              <a:defRPr sz="1300">
                <a:solidFill>
                  <a:srgbClr val="FFFFFF"/>
                </a:solidFill>
                <a:latin typeface="Arial"/>
              </a:defRPr>
            </a:pPr>
            <a:r>
              <a:t>• Geographic Employment Tracker: Tracks youth hiring status across municipal sectors for regional governance.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8181B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spcAft>
                <a:spcPts val="2000"/>
              </a:spcAft>
              <a:defRPr sz="1400" b="1">
                <a:solidFill>
                  <a:srgbClr val="737373"/>
                </a:solidFill>
                <a:latin typeface="Arial"/>
              </a:defRPr>
            </a:pPr>
            <a:r>
              <a:t>DASHBOARD PREVIEW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Active Sector Breakdown</a:t>
            </a:r>
          </a:p>
          <a:p>
            <a:pPr>
              <a:spcAft>
                <a:spcPts val="1200"/>
              </a:spcAft>
              <a:defRPr sz="1400" b="1">
                <a:solidFill>
                  <a:srgbClr val="16A34A"/>
                </a:solidFill>
                <a:latin typeface="Courier New"/>
              </a:defRPr>
            </a:pPr>
            <a:r>
              <a:t>Agriculture (40%)</a:t>
            </a:r>
            <a:br/>
            <a:r>
              <a:t>██████████</a:t>
            </a:r>
          </a:p>
          <a:p>
            <a:pPr>
              <a:spcAft>
                <a:spcPts val="1200"/>
              </a:spcAft>
              <a:defRPr sz="1400" b="1">
                <a:solidFill>
                  <a:srgbClr val="D97706"/>
                </a:solidFill>
                <a:latin typeface="Courier New"/>
              </a:defRPr>
            </a:pPr>
            <a:r>
              <a:t>Construction (35%)</a:t>
            </a:r>
            <a:br/>
            <a:r>
              <a:t>█████████</a:t>
            </a:r>
          </a:p>
          <a:p>
            <a:pPr>
              <a:spcAft>
                <a:spcPts val="1200"/>
              </a:spcAft>
              <a:defRPr sz="1400" b="1">
                <a:solidFill>
                  <a:srgbClr val="9333EA"/>
                </a:solidFill>
                <a:latin typeface="Courier New"/>
              </a:defRPr>
            </a:pPr>
            <a:r>
              <a:t>Local Services (25%)</a:t>
            </a:r>
            <a:br/>
            <a:r>
              <a:t>██████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IMPLEMENTATION 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Summary of Achievements &amp; Features Implemented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18181B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 rIns="274320"/>
          <a:lstStyle/>
          <a:p>
            <a:pPr algn="ctr">
              <a:spcAft>
                <a:spcPts val="600"/>
              </a:spcAft>
              <a:defRPr sz="1500" b="1">
                <a:solidFill>
                  <a:srgbClr val="2563EB"/>
                </a:solidFill>
                <a:latin typeface="Arial"/>
              </a:defRPr>
            </a:pPr>
            <a:r>
              <a:t>Interactive GIS Map</a:t>
            </a:r>
          </a:p>
          <a:p>
            <a:pPr>
              <a:defRPr sz="1100">
                <a:solidFill>
                  <a:srgbClr val="FFFFFF"/>
                </a:solidFill>
                <a:latin typeface="Arial"/>
              </a:defRPr>
            </a:pPr>
            <a:r>
              <a:t>Implemented Mapbox GL JS engine integration, custom marker clusters, coordinate listings, and dynamic map bound rendering.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2011680"/>
          </a:xfrm>
          <a:prstGeom prst="roundRect">
            <a:avLst/>
          </a:prstGeom>
          <a:solidFill>
            <a:srgbClr val="18181B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 rIns="274320"/>
          <a:lstStyle/>
          <a:p>
            <a:pPr algn="ctr">
              <a:spcAft>
                <a:spcPts val="600"/>
              </a:spcAft>
              <a:defRPr sz="1500" b="1">
                <a:solidFill>
                  <a:srgbClr val="16A34A"/>
                </a:solidFill>
                <a:latin typeface="Arial"/>
              </a:defRPr>
            </a:pPr>
            <a:r>
              <a:t>Themed Visual Identity</a:t>
            </a:r>
          </a:p>
          <a:p>
            <a:pPr>
              <a:defRPr sz="1100">
                <a:solidFill>
                  <a:srgbClr val="FFFFFF"/>
                </a:solidFill>
                <a:latin typeface="Arial"/>
              </a:defRPr>
            </a:pPr>
            <a:r>
              <a:t>Designed a cohesive light/dark variable styling framework and set youthconnex.png as a masked background watermark on the landing page.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18181B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 rIns="274320"/>
          <a:lstStyle/>
          <a:p>
            <a:pPr algn="ctr">
              <a:spcAft>
                <a:spcPts val="600"/>
              </a:spcAft>
              <a:defRPr sz="1500" b="1">
                <a:solidFill>
                  <a:srgbClr val="D97706"/>
                </a:solidFill>
                <a:latin typeface="Arial"/>
              </a:defRPr>
            </a:pPr>
            <a:r>
              <a:t>HIMO Residency Validations</a:t>
            </a:r>
          </a:p>
          <a:p>
            <a:pPr>
              <a:defRPr sz="1100">
                <a:solidFill>
                  <a:srgbClr val="FFFFFF"/>
                </a:solidFill>
                <a:latin typeface="Arial"/>
              </a:defRPr>
            </a:pPr>
            <a:r>
              <a:t>Engineered client-side location and commune validation checks to block non-resident entries on restricted state-funded projects.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931920"/>
            <a:ext cx="5120640" cy="2011680"/>
          </a:xfrm>
          <a:prstGeom prst="roundRect">
            <a:avLst/>
          </a:prstGeom>
          <a:solidFill>
            <a:srgbClr val="18181B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 rIns="274320"/>
          <a:lstStyle/>
          <a:p>
            <a:pPr algn="ctr">
              <a:spcAft>
                <a:spcPts val="600"/>
              </a:spcAft>
              <a:defRPr sz="1500" b="1">
                <a:solidFill>
                  <a:srgbClr val="9333EA"/>
                </a:solidFill>
                <a:latin typeface="Arial"/>
              </a:defRPr>
            </a:pPr>
            <a:r>
              <a:t>WhatsApp micro-integrations</a:t>
            </a:r>
          </a:p>
          <a:p>
            <a:pPr>
              <a:defRPr sz="1100">
                <a:solidFill>
                  <a:srgbClr val="FFFFFF"/>
                </a:solidFill>
                <a:latin typeface="Arial"/>
              </a:defRPr>
            </a:pPr>
            <a:r>
              <a:t>Implemented WhatsApp click-to-chat links in local service directories, facilitating instant chat applications without resumes.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266590" y="1371600"/>
            <a:ext cx="3657600" cy="3657600"/>
          </a:xfrm>
          <a:prstGeom prst="ellipse">
            <a:avLst/>
          </a:prstGeom>
          <a:solidFill>
            <a:srgbClr val="18181B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br/>
            <a:r>
              <a:t>Thank You!</a:t>
            </a:r>
          </a:p>
          <a:p>
            <a:pPr algn="ctr">
              <a:defRPr sz="1200">
                <a:solidFill>
                  <a:srgbClr val="2563EB"/>
                </a:solidFill>
                <a:latin typeface="Arial"/>
              </a:defRPr>
            </a:pPr>
            <a:r>
              <a:t>YouthConnex</a:t>
            </a:r>
            <a:br/>
            <a:r>
              <a:t>Connecting Minds, Building Futures</a:t>
            </a:r>
          </a:p>
          <a:p>
            <a:br/>
            <a:pPr algn="ctr">
              <a:defRPr sz="1400" i="1">
                <a:solidFill>
                  <a:srgbClr val="A1A1AA"/>
                </a:solidFill>
                <a:latin typeface="Arial"/>
              </a:defRPr>
            </a:pPr>
            <a:r>
              <a:t>Questions &amp; Answers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